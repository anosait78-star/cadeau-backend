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المميزات</c:v>
                </c:pt>
              </c:strCache>
            </c:strRef>
          </c:tx>
          <c:spPr>
            <a:solidFill>
              <a:srgbClr val="E119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A2E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1193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61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A31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2E3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P0</c:v>
                  </c:pt>
                  <c:pt idx="1">
                    <c:v>P1</c:v>
                  </c:pt>
                  <c:pt idx="2">
                    <c:v>P2</c:v>
                  </c:pt>
                  <c:pt idx="3">
                    <c:v>P3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37</c:v>
                </c:pt>
                <c:pt idx="2">
                  <c:v>28</c:v>
                </c:pt>
                <c:pt idx="3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2A2E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2A2E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تقديمي لنظام Cadeau CRM موجّه للعميل. المنصة تحوّل فوضى إدارة الطلبات إلى عملية واحدة ذكية.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206240" cy="4206240"/>
          </a:xfrm>
          <a:prstGeom prst="heart">
            <a:avLst/>
          </a:prstGeom>
          <a:solidFill>
            <a:srgbClr val="20222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2395728"/>
            <a:ext cx="566928" cy="56692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4" name="Text 2"/>
          <p:cNvSpPr/>
          <p:nvPr/>
        </p:nvSpPr>
        <p:spPr>
          <a:xfrm>
            <a:off x="1737360" y="243230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DC6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تشغيل عمليات التجارة بالدفع عند الاستلام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Cadeau CRM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926080" y="40690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تشغيلي واحد ذكي ومستقر يدير الطلب من الرسالة الأولى حتى الربح الصافي — بلغتك وسوقك.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5989320"/>
            <a:ext cx="11064240" cy="0"/>
          </a:xfrm>
          <a:prstGeom prst="line">
            <a:avLst/>
          </a:prstGeom>
          <a:noFill/>
          <a:ln w="12700">
            <a:solidFill>
              <a:srgbClr val="3436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تقديمي للعميل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6126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Product Plan  ·  v1.0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التحدّي اليوم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 تُدار بالفوضى — لا بالنظام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الذي يبيع عبر السوشيال يعيش يوميًا بين أربع أدوات متفرّقة لا تتحدّث مع بعضها، فتضيع الطلبات وتختلط الأرقام.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22476" y="2880360"/>
            <a:ext cx="731520" cy="73152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7" name="Text 5"/>
          <p:cNvSpPr/>
          <p:nvPr/>
        </p:nvSpPr>
        <p:spPr>
          <a:xfrm>
            <a:off x="1522476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رسائل واتساب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مبعثرة في محادثات لا تُحصى، بلا تتبّع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01568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5404" y="2880360"/>
            <a:ext cx="731520" cy="73152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4375404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30168" y="37947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إكسيل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30168" y="431596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يدوية تتعارض، عملة مختلطة، بلا مصدر حقيقة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54496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8332" y="2880360"/>
            <a:ext cx="731520" cy="73152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7228332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83096" y="37947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أوراق ومكالمات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83096" y="431596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تأكيد هاتفي بطيء، طلبات تيست ومكرّرة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07424" y="2514600"/>
            <a:ext cx="2679192" cy="278892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081260" y="2880360"/>
            <a:ext cx="731520" cy="73152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2" name="Text 20"/>
          <p:cNvSpPr/>
          <p:nvPr/>
        </p:nvSpPr>
        <p:spPr>
          <a:xfrm>
            <a:off x="10081260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36024" y="37947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حسابات في الرأس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36024" y="4315968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ربحية غير واضحة، تسوية شحن معطوبة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5778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2A2E3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النتيجة: ساعات عمل يدوي ضائعة، وقرارات مبنية على أرقام لا يثق بها التاجر.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"/>
            <a:ext cx="1554480" cy="1554480"/>
          </a:xfrm>
          <a:prstGeom prst="heart">
            <a:avLst/>
          </a:prstGeom>
          <a:solidFill>
            <a:srgbClr val="2022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الرؤية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 يصبح Cadeau CRM النظام التشغيلي الأول والموثوق لكل تاجر عربي يبيع عبر السوشيال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يحوّل الفوضى إلى عملية واحدة ذكية، مستقرة، وموطّنة — مبنية على أربع طبقات تفوّق: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2022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3749040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الاستقرار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لا يتعطّل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19272" y="3520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20222B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3749040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12" name="Text 10"/>
          <p:cNvSpPr/>
          <p:nvPr/>
        </p:nvSpPr>
        <p:spPr>
          <a:xfrm>
            <a:off x="4096512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الامتثال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47872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فوترة رسمية وضرائب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9904" y="3520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20222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4224" y="3749040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16" name="Text 14"/>
          <p:cNvSpPr/>
          <p:nvPr/>
        </p:nvSpPr>
        <p:spPr>
          <a:xfrm>
            <a:off x="6867144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18504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كل عملية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860536" y="35204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2022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134856" y="3749040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20" name="Text 18"/>
          <p:cNvSpPr/>
          <p:nvPr/>
        </p:nvSpPr>
        <p:spPr>
          <a:xfrm>
            <a:off x="9637776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الأتمتة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89136" y="43159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توفير العمل اليدوي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 نريد أن نكون خلال 3 سنوات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المنصّة المرجعية لإدارة عمليات COD في مصر ثم الخليج والمغرب العربي</a:t>
            </a:r>
            <a:endParaRPr lang="en-US" sz="14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المعيار: نظام لا يتعطّل، يفوتر رسميًا، يُدقّق كل عملية، ويؤتمت القناة</a:t>
            </a:r>
            <a:endParaRPr lang="en-US" sz="14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منصّة يُبنى فوقها نظام بيئي كامل (API + تكاملات + سوق تطبيقات)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Cadeau CRM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 تشغيل عمليات لتجارة الدفع عند الاستلام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مجرد إدارة طلبات — بل تقاطع أربع فئات في نظام واحد موطّن للسوق العربي.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58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81344" y="2286000"/>
            <a:ext cx="5458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4206240"/>
            <a:ext cx="5458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81344" y="4206240"/>
            <a:ext cx="545896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2606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68680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نواة إدارة الطلبات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استقبال الطلب، دورة الحياة، اللصق الذكي، والتتبّع — الوزن الأكبر للنظام.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01384" y="2606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CRM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01384" y="31272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العملاء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1384" y="34564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ملفات العملاء، منع التكرار، الشرائح، والولاء والإهداء لاحقًا.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ERP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68680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المخزون والموردون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5376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مخزون لحظي، مستودعات، أوامر شراء، وماليات موحّدة.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01384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 Engine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501384" y="5047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 المالي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01384" y="5376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المحصّل الفعلي، تسوية الشحن، المركز النقدي، والإقفال — طبقة التمايز.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لمن نبني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الجمهور المستهدف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 تجزئة صغير/متوسط في مصر والمنطقة العربية يبيع عبر السوشيال بنموذج الدفع عند الاستلام.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88920" y="24414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29900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الفريق (أدوار متعددة)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642616"/>
            <a:ext cx="475488" cy="47548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426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36758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مئات–آلاف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42245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شهريًا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877056"/>
            <a:ext cx="475488" cy="47548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770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00600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491032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65760" y="5458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الدفع السائد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5111496"/>
            <a:ext cx="475488" cy="47548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1114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89320" y="2331720"/>
            <a:ext cx="5650992" cy="3657600"/>
          </a:xfrm>
          <a:prstGeom prst="roundRect">
            <a:avLst>
              <a:gd name="adj" fmla="val 3000"/>
            </a:avLst>
          </a:prstGeom>
          <a:solidFill>
            <a:srgbClr val="2A2E3A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قنواته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63640" y="2926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إنستجرام · فيسبوك · واتساب · تيك توك · متاجر خفيفة (Salla / Zid / WooCommerce)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102352" cy="0"/>
          </a:xfrm>
          <a:prstGeom prst="line">
            <a:avLst/>
          </a:prstGeom>
          <a:noFill/>
          <a:ln w="12700">
            <a:solidFill>
              <a:srgbClr val="3A3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قطاعه المثالي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هدايا · ورود · عطور · أزياء · إكسسوارات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263640" y="48006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الاسم والهوية (Cadeau = الهدية) يخاطبان مباشرة متاجر الهدايا: القطاع الأعلى قيمة عاطفية والأكثر اعتمادًا على السوشيال — وفرصة تمايز عبر وحدة الإهداء.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سيستخدم النظام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فريق العمل — كل دور واحتياجه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27832" y="198424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6" name="Text 4"/>
          <p:cNvSpPr/>
          <p:nvPr/>
        </p:nvSpPr>
        <p:spPr>
          <a:xfrm>
            <a:off x="3227832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ليلى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المالكة / المديرة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رؤية شاملة وربحية دقيقة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227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لوحة قابلة للتخصيص + تحليلات + تدقيق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61104" y="169164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0296" y="198424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13" name="Text 11"/>
          <p:cNvSpPr/>
          <p:nvPr/>
        </p:nvSpPr>
        <p:spPr>
          <a:xfrm>
            <a:off x="6940296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35424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كريم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35424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الكول سنتر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35424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تأكيد سريع للطلبات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35424" y="3227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لصق ذكي + قوالب واتساب + كشف التكرار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73568" y="169164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0652760" y="198424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20" name="Text 18"/>
          <p:cNvSpPr/>
          <p:nvPr/>
        </p:nvSpPr>
        <p:spPr>
          <a:xfrm>
            <a:off x="10652760" y="1984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47888" y="19842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منى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47888" y="23682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التجهيز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47888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مخزون فعلي فوري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47888" y="32278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مخزون لحظي + حجز ذري + باركود/QR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431596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27" name="Text 25"/>
          <p:cNvSpPr/>
          <p:nvPr/>
        </p:nvSpPr>
        <p:spPr>
          <a:xfrm>
            <a:off x="3227832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22960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أحمد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822960" y="47000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الشحن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شحنات + تسوية دقيقة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22960" y="5559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تكامل شحن موحّد + تسوية تعمل فعلًا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261104" y="402336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40296" y="431596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34" name="Text 32"/>
          <p:cNvSpPr/>
          <p:nvPr/>
        </p:nvSpPr>
        <p:spPr>
          <a:xfrm>
            <a:off x="6940296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35424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سلمى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4535424" y="47000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المستودع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4535424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إدارة مخزون معزولة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35424" y="5559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تحويلات ذرية + سجل كامل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973568" y="4023360"/>
            <a:ext cx="354787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52760" y="4315968"/>
            <a:ext cx="566928" cy="566928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41" name="Text 39"/>
          <p:cNvSpPr/>
          <p:nvPr/>
        </p:nvSpPr>
        <p:spPr>
          <a:xfrm>
            <a:off x="10652760" y="4315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8247888" y="43159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هالة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8247888" y="47000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المحاسبة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8247888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يحتاج: ماليات واضحة وامتثال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247888" y="55595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Cadeau: فواتير + ضرائب + إقفال + فاتورة إلكترونية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Cadeau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ثماني مزايا تنافسية يصعب تقليدها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184648" y="1947672"/>
            <a:ext cx="502920" cy="50292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6" name="Text 4"/>
          <p:cNvSpPr/>
          <p:nvPr/>
        </p:nvSpPr>
        <p:spPr>
          <a:xfrm>
            <a:off x="5184648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1856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الاستقرار كسمة أولى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جودة واختبارات ومعمارية سليمة من اليوم الأول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25496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84648" y="3081528"/>
            <a:ext cx="502920" cy="50292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11" name="Text 9"/>
          <p:cNvSpPr/>
          <p:nvPr/>
        </p:nvSpPr>
        <p:spPr>
          <a:xfrm>
            <a:off x="5184648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29900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 المالي لـ COD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3741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تسوية آلية + مركز نقدي + إقفال محاسبي دقيق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59352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84648" y="4215384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5184648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68680" y="41239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الامتثال الضريبي المصري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4507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رسمية + ضرائب + فاتورة إلكترونية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093208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84648" y="5349240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1" name="Text 19"/>
          <p:cNvSpPr/>
          <p:nvPr/>
        </p:nvSpPr>
        <p:spPr>
          <a:xfrm>
            <a:off x="5184648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68680" y="5257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شحن محايدة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5641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نُقيّدك بناقل واحد — مرونة تكامل كاملة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81344" y="1691640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17352" y="1947672"/>
            <a:ext cx="502920" cy="5029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6" name="Text 24"/>
          <p:cNvSpPr/>
          <p:nvPr/>
        </p:nvSpPr>
        <p:spPr>
          <a:xfrm>
            <a:off x="10817352" y="1947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01384" y="18562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الحوكمة الكاملة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01384" y="224028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تدقيق شامل + صلاحيات دقيقة تفتح سوق المؤسسات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81344" y="2825496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17352" y="3081528"/>
            <a:ext cx="502920" cy="50292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31" name="Text 29"/>
          <p:cNvSpPr/>
          <p:nvPr/>
        </p:nvSpPr>
        <p:spPr>
          <a:xfrm>
            <a:off x="10817352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501384" y="299008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أولًا الأصيلة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01384" y="33741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عميق ومصطلحات محلية، لا ترجمة سطحية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81344" y="3959352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817352" y="4215384"/>
            <a:ext cx="502920" cy="502920"/>
          </a:xfrm>
          <a:prstGeom prst="ellipse">
            <a:avLst/>
          </a:prstGeom>
          <a:solidFill>
            <a:srgbClr val="2A2E3A"/>
          </a:solidFill>
          <a:ln/>
        </p:spPr>
      </p:sp>
      <p:sp>
        <p:nvSpPr>
          <p:cNvPr id="36" name="Text 34"/>
          <p:cNvSpPr/>
          <p:nvPr/>
        </p:nvSpPr>
        <p:spPr>
          <a:xfrm>
            <a:off x="10817352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501384" y="412394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جاهزة للذكاء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501384" y="45079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/ Event-Driven — AI كموديول لاحق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181344" y="5093208"/>
            <a:ext cx="5458968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817352" y="5349240"/>
            <a:ext cx="502920" cy="502920"/>
          </a:xfrm>
          <a:prstGeom prst="ellipse">
            <a:avLst/>
          </a:prstGeom>
          <a:solidFill>
            <a:srgbClr val="F26177"/>
          </a:solidFill>
          <a:ln/>
        </p:spPr>
      </p:sp>
      <p:sp>
        <p:nvSpPr>
          <p:cNvPr id="41" name="Text 39"/>
          <p:cNvSpPr/>
          <p:nvPr/>
        </p:nvSpPr>
        <p:spPr>
          <a:xfrm>
            <a:off x="10817352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501384" y="525780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الإهداء (Gifting)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1384" y="56418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تموضع فريد لقطاع الهدايا والعطور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التموضع في السوق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نتفوّق على البدائل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المرجع المباشر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30368" y="2194560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8" name="Text 6"/>
          <p:cNvSpPr/>
          <p:nvPr/>
        </p:nvSpPr>
        <p:spPr>
          <a:xfrm>
            <a:off x="523036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670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استقرار + امتثال + حوكمة + ذكاء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EasyOrders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منافس مصري قوي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30368" y="3675888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4" name="Text 12"/>
          <p:cNvSpPr/>
          <p:nvPr/>
        </p:nvSpPr>
        <p:spPr>
          <a:xfrm>
            <a:off x="523036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1513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عمق مالي (تسوية/إقفال/فواتير) + تدقيق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00016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901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5358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شركة شحن توسّعت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30368" y="5157216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0" name="Text 18"/>
          <p:cNvSpPr/>
          <p:nvPr/>
        </p:nvSpPr>
        <p:spPr>
          <a:xfrm>
            <a:off x="5230368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5632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طبقة شحن محايدة + ماليات أعمق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1737360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01384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Daftra / Wared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01384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محاسبي عربي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863072" y="2194560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10863072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01384" y="26700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أخف وأسرع، مصمّم حول COD والسوشيال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81344" y="3218688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01384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Zoho / Katana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01384" y="3877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OMS عالمي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863072" y="3675888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2" name="Text 30"/>
          <p:cNvSpPr/>
          <p:nvPr/>
        </p:nvSpPr>
        <p:spPr>
          <a:xfrm>
            <a:off x="10863072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01384" y="415137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موطّن للـ COD و RTL بعمق لا يملكونه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81344" y="4700016"/>
            <a:ext cx="5458968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501384" y="49011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إكسيل + واتساب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01384" y="53583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البديل الأكبر فعليًا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863072" y="5157216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8" name="Text 36"/>
          <p:cNvSpPr/>
          <p:nvPr/>
        </p:nvSpPr>
        <p:spPr>
          <a:xfrm>
            <a:off x="10863072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01384" y="5632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تفوّقنا: كل قيمة Cadeau موجّهة ضد هذا البديل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الأسس الحاكمة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أربعة قرارات معمارية إلزامية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قرارات ملزمة تحكم كل شيء في النظام — ليست اقتراحات.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58968" cy="1965960"/>
          </a:xfrm>
          <a:prstGeom prst="roundRect">
            <a:avLst>
              <a:gd name="adj" fmla="val 5581"/>
            </a:avLst>
          </a:prstGeom>
          <a:solidFill>
            <a:srgbClr val="20222B"/>
          </a:solidFill>
          <a:ln/>
        </p:spPr>
      </p:sp>
      <p:sp>
        <p:nvSpPr>
          <p:cNvPr id="6" name="Shape 4"/>
          <p:cNvSpPr/>
          <p:nvPr/>
        </p:nvSpPr>
        <p:spPr>
          <a:xfrm>
            <a:off x="4864608" y="2423160"/>
            <a:ext cx="822960" cy="82296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7" name="Text 5"/>
          <p:cNvSpPr/>
          <p:nvPr/>
        </p:nvSpPr>
        <p:spPr>
          <a:xfrm>
            <a:off x="4864608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أولًا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قبل سرعة التطوير: إصدارات مستقرة فقط، صفر ثغرات حرجة، وبوابات أمنية قبل كل إصدار.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81344" y="2148840"/>
            <a:ext cx="5458968" cy="1965960"/>
          </a:xfrm>
          <a:prstGeom prst="roundRect">
            <a:avLst>
              <a:gd name="adj" fmla="val 5581"/>
            </a:avLst>
          </a:prstGeom>
          <a:solidFill>
            <a:srgbClr val="20222B"/>
          </a:solidFill>
          <a:ln/>
        </p:spPr>
      </p:sp>
      <p:sp>
        <p:nvSpPr>
          <p:cNvPr id="11" name="Shape 9"/>
          <p:cNvSpPr/>
          <p:nvPr/>
        </p:nvSpPr>
        <p:spPr>
          <a:xfrm>
            <a:off x="10497312" y="2423160"/>
            <a:ext cx="822960" cy="82296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7312" y="2423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01384" y="25146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الموبايل أولًا بتجربتين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01384" y="320040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Desktop للـ Power User وتجربة Mobile بإحساس Native — تصميمان مستقلان لا Responsive فقط.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58968" cy="1965960"/>
          </a:xfrm>
          <a:prstGeom prst="roundRect">
            <a:avLst>
              <a:gd name="adj" fmla="val 5581"/>
            </a:avLst>
          </a:prstGeom>
          <a:solidFill>
            <a:srgbClr val="20222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64608" y="4572000"/>
            <a:ext cx="822960" cy="82296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وصول مؤسسي بثلاث طبقات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5349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الاشتراك ثم الـ Feature Flag ثم الصلاحية معًا يحكمون ظهور كل ميزة — تحكّم كامل بلا كود.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81344" y="4297680"/>
            <a:ext cx="5458968" cy="1965960"/>
          </a:xfrm>
          <a:prstGeom prst="roundRect">
            <a:avLst>
              <a:gd name="adj" fmla="val 5581"/>
            </a:avLst>
          </a:prstGeom>
          <a:solidFill>
            <a:srgbClr val="2022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497312" y="4572000"/>
            <a:ext cx="822960" cy="822960"/>
          </a:xfrm>
          <a:prstGeom prst="ellipse">
            <a:avLst/>
          </a:prstGeom>
          <a:solidFill>
            <a:srgbClr val="E11931"/>
          </a:solidFill>
          <a:ln/>
        </p:spPr>
      </p:sp>
      <p:sp>
        <p:nvSpPr>
          <p:cNvPr id="22" name="Text 20"/>
          <p:cNvSpPr/>
          <p:nvPr/>
        </p:nvSpPr>
        <p:spPr>
          <a:xfrm>
            <a:off x="10497312" y="4572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501384" y="466344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بلا AI في v1.0، جاهز له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01384" y="534924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الإصدار الأول يعمل 100% بلا ذكاء اصطناعي، ومعمارية جاهزة لإضافته لاحقًا كموديول مستقل.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يقدّم النظام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الوحدات الأساسية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1168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حياة 12 حالة، لصق ذكي، عرض مزدوج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73736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201168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العملاء و CRM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6616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عملاء، منع تكرار، شرائح وسجل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01168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المخزون والمستودعات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مخزون لحظي، حجز ذري، تحويلات، باركود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15400" y="173736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201168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الماليات والفواتير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0" y="321868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مركز نقدي، إقفال، فواتير، ضرائب، استرداد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937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الشحن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77240" y="5458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نواقل، شحن بالجملة، تتبّع، تسوية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37560" y="397764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425196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566160" y="4937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التحليلات والتقارير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3566160" y="5458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محاور، ربحية لحظية، تصدير مقيّد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26480" y="397764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425196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355080" y="4937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الصلاحيات والحوكمة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355080" y="5458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أدوار دقيقة، تدقيق شامل، 2FA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915400" y="3977640"/>
            <a:ext cx="2624328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89720" y="4251960"/>
            <a:ext cx="566928" cy="566928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41" name="Text 39"/>
          <p:cNvSpPr/>
          <p:nvPr/>
        </p:nvSpPr>
        <p:spPr>
          <a:xfrm>
            <a:off x="918972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144000" y="49377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الاشتراكات والمميزات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9144000" y="5458968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خطط، Feature Flags، لوحة Super Admin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 التمايز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المحرّك المالي لـ COD — قلب النظام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حيث يفشل المنافسون: نتتبّع كل جنيه من لحظة التحصيل حتى الربح الصافي — بشفافية كاملة قابلة للتفسير.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E1193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42316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المحصّل الفعلي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15184" y="2423160"/>
            <a:ext cx="210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807208" y="242316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C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44368" y="242316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تسوية الشحن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73752" y="2423160"/>
            <a:ext cx="210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065776" y="242316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C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02936" y="242316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المركز النقدي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23160"/>
            <a:ext cx="210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324344" y="242316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CE7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61504" y="242316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الإقفال الشهري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90888" y="2423160"/>
            <a:ext cx="2103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582912" y="2423160"/>
            <a:ext cx="2084832" cy="1234440"/>
          </a:xfrm>
          <a:prstGeom prst="roundRect">
            <a:avLst>
              <a:gd name="adj" fmla="val 8889"/>
            </a:avLst>
          </a:prstGeom>
          <a:solidFill>
            <a:srgbClr val="E11931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2423160"/>
            <a:ext cx="18105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الربح الصافي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7024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تسوية شحن تعمل فعلًا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مطابقة المحصّل مع كشوف النواقل — أكبر عطل في المنافس، نُصلحه معماريًا.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61104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35424" y="427024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25" name="Text 23"/>
          <p:cNvSpPr/>
          <p:nvPr/>
        </p:nvSpPr>
        <p:spPr>
          <a:xfrm>
            <a:off x="4535424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فواتير وضرائب رسمية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535424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وحدة فواتير قابلة للطباعة + دعم VAT + فاتورة إلكترونية مصرية.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73568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47888" y="427024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29" name="Text 27"/>
          <p:cNvSpPr/>
          <p:nvPr/>
        </p:nvSpPr>
        <p:spPr>
          <a:xfrm>
            <a:off x="824788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ربحية لحظية لكل طلب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247888" y="52120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صافٍ بعد كل التكاليف (شحن + COGS + رسوم) — رقم يثق به التاجر.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الهوية والتجربة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هوية بصرية دافئة ونظام تصميم كامل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الألوان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11931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Cadeau Red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2852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الأساسي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4688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F26177"/>
          </a:solidFill>
          <a:ln/>
        </p:spPr>
      </p:sp>
      <p:sp>
        <p:nvSpPr>
          <p:cNvPr id="10" name="Text 8"/>
          <p:cNvSpPr/>
          <p:nvPr/>
        </p:nvSpPr>
        <p:spPr>
          <a:xfrm>
            <a:off x="425196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Cadeau Rose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51960" y="2852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التمييز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5204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2A2E3A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Graphite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352044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1E9E5A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5196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دلالي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5720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E8A317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دلالي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457200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2E7BD6"/>
          </a:solidFill>
          <a:ln/>
        </p:spPr>
      </p:sp>
      <p:sp>
        <p:nvSpPr>
          <p:cNvPr id="22" name="Text 20"/>
          <p:cNvSpPr/>
          <p:nvPr/>
        </p:nvSpPr>
        <p:spPr>
          <a:xfrm>
            <a:off x="4251960" y="4617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دلالي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737360"/>
            <a:ext cx="546811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90504" y="1975104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26" name="Text 24"/>
          <p:cNvSpPr/>
          <p:nvPr/>
        </p:nvSpPr>
        <p:spPr>
          <a:xfrm>
            <a:off x="1089050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46520" y="18836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ثيم مزدوج احترافي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446520" y="22494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فاتح وداكن مصمّمان استقلالًا — لا عكس آلي.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798064"/>
            <a:ext cx="546811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90504" y="3035808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1" name="Text 29"/>
          <p:cNvSpPr/>
          <p:nvPr/>
        </p:nvSpPr>
        <p:spPr>
          <a:xfrm>
            <a:off x="10890504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46520" y="294436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أولًا (RTL أصيل)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46520" y="3310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تخطيط معكوس كليًا + مصطلحات السوق المألوفة.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3858768"/>
            <a:ext cx="546811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890504" y="4096512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36" name="Text 34"/>
          <p:cNvSpPr/>
          <p:nvPr/>
        </p:nvSpPr>
        <p:spPr>
          <a:xfrm>
            <a:off x="10890504" y="4041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46520" y="40050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مكوّنات كامل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446520" y="43708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أزرار، جداول، بطاقات، حوارات — بمعايير موحّدة.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172200" y="4919472"/>
            <a:ext cx="5468112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890504" y="5157216"/>
            <a:ext cx="457200" cy="457200"/>
          </a:xfrm>
          <a:prstGeom prst="ellipse">
            <a:avLst/>
          </a:prstGeom>
          <a:solidFill>
            <a:srgbClr val="FFF1F2"/>
          </a:solidFill>
          <a:ln/>
        </p:spPr>
      </p:sp>
      <p:sp>
        <p:nvSpPr>
          <p:cNvPr id="41" name="Text 39"/>
          <p:cNvSpPr/>
          <p:nvPr/>
        </p:nvSpPr>
        <p:spPr>
          <a:xfrm>
            <a:off x="10890504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446520" y="506577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إمكانية وصول WCAG AA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6446520" y="54315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تباين، تنقّل لوحة مفاتيح، أهداف لمس ≥ 44px.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حجم العمل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بنك المميزات — أكثر من 150 ميزة مصنّفة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ميزة مصنّفة بأولوية واضحة من P0 (إلزامي للإطلاق) حتى P3 (مستقبلي) — خارطة تنفيذ لا قائمة أمنيات.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331720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766560" y="2377440"/>
            <a:ext cx="4873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995160" y="25786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11931"/>
          </a:solidFill>
          <a:ln/>
        </p:spPr>
      </p:sp>
      <p:sp>
        <p:nvSpPr>
          <p:cNvPr id="8" name="Text 5"/>
          <p:cNvSpPr/>
          <p:nvPr/>
        </p:nvSpPr>
        <p:spPr>
          <a:xfrm>
            <a:off x="699516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6334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إلزامي للإطلاق (v1.0)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26334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 ميزة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0" y="3364992"/>
            <a:ext cx="4873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95160" y="3566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26177"/>
          </a:solidFill>
          <a:ln/>
        </p:spPr>
      </p:sp>
      <p:sp>
        <p:nvSpPr>
          <p:cNvPr id="13" name="Text 10"/>
          <p:cNvSpPr/>
          <p:nvPr/>
        </p:nvSpPr>
        <p:spPr>
          <a:xfrm>
            <a:off x="69951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589520" y="36210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مهم (v1.0–v1.1)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589520" y="3621024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~37 ميزة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766560" y="4352544"/>
            <a:ext cx="4873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95160" y="4553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E8A317"/>
          </a:solidFill>
          <a:ln/>
        </p:spPr>
      </p:sp>
      <p:sp>
        <p:nvSpPr>
          <p:cNvPr id="18" name="Text 15"/>
          <p:cNvSpPr/>
          <p:nvPr/>
        </p:nvSpPr>
        <p:spPr>
          <a:xfrm>
            <a:off x="699516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589520" y="46085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لاحق (v1.1–v1.2)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589520" y="460857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 ميزة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766560" y="5340096"/>
            <a:ext cx="48737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5541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A2E3A"/>
          </a:solidFill>
          <a:ln/>
        </p:spPr>
      </p:sp>
      <p:sp>
        <p:nvSpPr>
          <p:cNvPr id="23" name="Text 20"/>
          <p:cNvSpPr/>
          <p:nvPr/>
        </p:nvSpPr>
        <p:spPr>
          <a:xfrm>
            <a:off x="6995160" y="5541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589520" y="5596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مستقبلي (v2.0+)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589520" y="55961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~22 ميزة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نبني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أربع مراحل تنفيذ متدرّجة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24328" cy="3931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24328" cy="868680"/>
          </a:xfrm>
          <a:prstGeom prst="roundRect">
            <a:avLst>
              <a:gd name="adj" fmla="val 12632"/>
            </a:avLst>
          </a:prstGeom>
          <a:solidFill>
            <a:srgbClr val="E119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 المستقر الآمن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947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آمنة، محرّك وصول ثلاثي، تدقيق، نظام تصميم، مصادقة.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24328" cy="3931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828800"/>
            <a:ext cx="2624328" cy="868680"/>
          </a:xfrm>
          <a:prstGeom prst="roundRect">
            <a:avLst>
              <a:gd name="adj" fmla="val 12632"/>
            </a:avLst>
          </a:prstGeom>
          <a:solidFill>
            <a:srgbClr val="C1122A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566160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التكافؤ الوظيفي+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7947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الطلبات + العملاء + المخزون + الماليات + الفواتير + الشحن + التحليلات.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828800"/>
            <a:ext cx="2624328" cy="3931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828800"/>
            <a:ext cx="2624328" cy="868680"/>
          </a:xfrm>
          <a:prstGeom prst="roundRect">
            <a:avLst>
              <a:gd name="adj" fmla="val 12632"/>
            </a:avLst>
          </a:prstGeom>
          <a:solidFill>
            <a:srgbClr val="E8A317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355080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التمايز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37947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API، تكامل المتجر، بوابة العميل، الإهداء، الفاتورة الإلكترونية.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915400" y="1828800"/>
            <a:ext cx="2624328" cy="393192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15400" y="1828800"/>
            <a:ext cx="2624328" cy="868680"/>
          </a:xfrm>
          <a:prstGeom prst="roundRect">
            <a:avLst>
              <a:gd name="adj" fmla="val 12632"/>
            </a:avLst>
          </a:prstGeom>
          <a:solidFill>
            <a:srgbClr val="2A2E3A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144000" y="20848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14400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الابتكار والريادة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0" y="3794760"/>
            <a:ext cx="22128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Studio، AI Copilot، تطبيق المندوب، التوسّع الإقليمي، API عام.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50" b="1" i="1" dirty="0">
                <a:solidFill>
                  <a:srgbClr val="C11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التوصية: نبدأ بالمرحلة الأولى كأساس غير قابل للتفاوض — أكبر فرصة تمايز فورية هي الجودة والاستقرار والأمان.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خارطة الطريق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الإطلاق إلى ريادة السوق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20222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38528"/>
            <a:ext cx="1371600" cy="621792"/>
          </a:xfrm>
          <a:prstGeom prst="roundRect">
            <a:avLst>
              <a:gd name="adj" fmla="val 14706"/>
            </a:avLst>
          </a:prstGeom>
          <a:solidFill>
            <a:srgbClr val="E1193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385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052560" y="18836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423160" y="1956816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النواة المستقرة الآمنة الممتثلة — كل P0. أفضل من المنافس في الجودة والامتثال والحوكمة.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07792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20222B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08960"/>
            <a:ext cx="1371600" cy="621792"/>
          </a:xfrm>
          <a:prstGeom prst="roundRect">
            <a:avLst>
              <a:gd name="adj" fmla="val 14706"/>
            </a:avLst>
          </a:prstGeom>
          <a:solidFill>
            <a:srgbClr val="2E313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089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052560" y="305409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التمكين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423160" y="3127248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API، فاتورة إلكترونية، Onboarding، بحث عام، PWA، أداة هجرة.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78224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20222B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279392"/>
            <a:ext cx="1371600" cy="621792"/>
          </a:xfrm>
          <a:prstGeom prst="roundRect">
            <a:avLst>
              <a:gd name="adj" fmla="val 14706"/>
            </a:avLst>
          </a:prstGeom>
          <a:solidFill>
            <a:srgbClr val="2E313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793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052560" y="4224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التمايز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423160" y="4297680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تكامل المتجر الحي، بوابة العميل، وحدة الإهداء، Automation Studio، باركود/QR.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48656"/>
            <a:ext cx="11091672" cy="1024128"/>
          </a:xfrm>
          <a:prstGeom prst="roundRect">
            <a:avLst>
              <a:gd name="adj" fmla="val 10714"/>
            </a:avLst>
          </a:prstGeom>
          <a:solidFill>
            <a:srgbClr val="202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5449824"/>
            <a:ext cx="1371600" cy="621792"/>
          </a:xfrm>
          <a:prstGeom prst="roundRect">
            <a:avLst>
              <a:gd name="adj" fmla="val 14706"/>
            </a:avLst>
          </a:prstGeom>
          <a:solidFill>
            <a:srgbClr val="2E313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44982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052560" y="5394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الريادة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423160" y="5468112"/>
            <a:ext cx="6446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C9CD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توسّع إقليمي، AI Copilot، تطبيق المندوب، API عام + Marketplace، ولاء وحملات.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نقيس النجاح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مؤشرات النجاح بعد الإطلاق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صفر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أعطال حرجة في الإنتاج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61104" y="182880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5424" y="214884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35424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نجاح إنشاء الطلب باللصق الذكي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3568" y="182880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47888" y="214884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1E9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30%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247888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تقليل زمن معالجة الطلب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29768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4.5/5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رضا المستخدم (CSAT)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261104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35424" y="429768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90%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35424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الاحتفاظ الشهري الصافي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3568" y="3977640"/>
            <a:ext cx="354787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47888" y="429768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4400" b="1" dirty="0">
                <a:solidFill>
                  <a:srgbClr val="2E7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2ث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47888" y="5212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تحميل الشاشة (P95)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b="1" spc="100" kern="0" dirty="0">
                <a:solidFill>
                  <a:srgbClr val="E11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الشفافية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وكيف نتعامل معها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30368" y="214884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6" name="Text 4"/>
          <p:cNvSpPr/>
          <p:nvPr/>
        </p:nvSpPr>
        <p:spPr>
          <a:xfrm>
            <a:off x="523036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تعقيد الامتثال الضريبي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تحقّق جدوى مبكر + شراكة محاسبية + جعلها P1 لا P0.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30368" y="356616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1" name="Text 9"/>
          <p:cNvSpPr/>
          <p:nvPr/>
        </p:nvSpPr>
        <p:spPr>
          <a:xfrm>
            <a:off x="5230368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8680" y="3355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توفّر WhatsApp API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68680" y="38130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بديل مرحلي عبر روابط wa.me والقوالب قبل الـ API.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0368" y="498348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16" name="Text 14"/>
          <p:cNvSpPr/>
          <p:nvPr/>
        </p:nvSpPr>
        <p:spPr>
          <a:xfrm>
            <a:off x="5230368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8680" y="4773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تعدد تكاملات النواقل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68680" y="5230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طبقة تجريد موحّدة + الأولوية للناقل الأكبر.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81344" y="173736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863072" y="214884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21" name="Text 19"/>
          <p:cNvSpPr/>
          <p:nvPr/>
        </p:nvSpPr>
        <p:spPr>
          <a:xfrm>
            <a:off x="1086307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01384" y="1938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هجرة البيانات من المنافس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01384" y="239572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أداة استيراد بربط أعمدة تسهّل التبنّي.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81344" y="315468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863072" y="356616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26" name="Text 24"/>
          <p:cNvSpPr/>
          <p:nvPr/>
        </p:nvSpPr>
        <p:spPr>
          <a:xfrm>
            <a:off x="10863072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01384" y="335584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تكلفة/دقة الذكاء الاصطناعي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501384" y="38130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AI خارج v1.0 كليًا — بلا تبعية أو تكلفة تشغيل.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81344" y="4572000"/>
            <a:ext cx="5458968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9A8F8A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863072" y="4983480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</p:sp>
      <p:sp>
        <p:nvSpPr>
          <p:cNvPr id="31" name="Text 29"/>
          <p:cNvSpPr/>
          <p:nvPr/>
        </p:nvSpPr>
        <p:spPr>
          <a:xfrm>
            <a:off x="10863072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E8A3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01384" y="477316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50" b="1" dirty="0">
                <a:solidFill>
                  <a:srgbClr val="2A2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في التفويض/تسريب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501384" y="52303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B70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التخفيف: BFF كطبقة صريحة + RLS ثانية + اختبار اختراق.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2011680" cy="2011680"/>
          </a:xfrm>
          <a:prstGeom prst="heart">
            <a:avLst/>
          </a:prstGeom>
          <a:solidFill>
            <a:srgbClr val="20222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48840"/>
            <a:ext cx="548640" cy="548640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4" name="Text 2"/>
          <p:cNvSpPr/>
          <p:nvPr/>
        </p:nvSpPr>
        <p:spPr>
          <a:xfrm>
            <a:off x="1600200" y="21762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F261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 نسخة — بل تطوّر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ts val="4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Cadeau CRM يرث الحكمة التشغيلية لسوق COD العربي، ويعالج كل عطل ونقص، ويضيف طبقة استقرار وامتثال وحوكمة تصنع تمايزًا حقيقيًا.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2022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486460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8" name="Text 6"/>
          <p:cNvSpPr/>
          <p:nvPr/>
        </p:nvSpPr>
        <p:spPr>
          <a:xfrm>
            <a:off x="1645920" y="4617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الاستقرار أولًا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46177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20222B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486460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4617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الأمان بالتصميم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46720" y="4617720"/>
            <a:ext cx="3383280" cy="868680"/>
          </a:xfrm>
          <a:prstGeom prst="roundRect">
            <a:avLst>
              <a:gd name="adj" fmla="val 12632"/>
            </a:avLst>
          </a:prstGeom>
          <a:solidFill>
            <a:srgbClr val="20222B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4864608"/>
            <a:ext cx="384048" cy="384048"/>
          </a:xfrm>
          <a:prstGeom prst="heart">
            <a:avLst/>
          </a:prstGeom>
          <a:solidFill>
            <a:srgbClr val="E11931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46177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أولًا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A7AB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عوامل النجاح الحاسمة — الالتزام بها يحدّد إن كان Cadeau مجرد بديل أم متفوّق حقيقي.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6309360"/>
            <a:ext cx="10515600" cy="0"/>
          </a:xfrm>
          <a:prstGeom prst="line">
            <a:avLst/>
          </a:prstGeom>
          <a:noFill/>
          <a:ln w="12700">
            <a:solidFill>
              <a:srgbClr val="3436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Cadeau CRM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5216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9A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شكرًا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2026-07-27T11:20:29Z</dcterms:created>
  <dcterms:modified xsi:type="dcterms:W3CDTF">2026-07-27T11:20:29Z</dcterms:modified>
</cp:coreProperties>
</file>